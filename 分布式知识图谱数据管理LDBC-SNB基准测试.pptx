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2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8EA04-72C2-432C-ADC2-AD5B94C7FBEB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D2212-C619-4E97-A34A-3AC19A999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28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D2212-C619-4E97-A34A-3AC19A9990C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69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8BFE-1389-1F6E-DD0C-B688414A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6C57A7-BCBD-1654-D15D-E16C3FDC0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1F0DA2-5E0E-E581-C93B-5D13523D4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143A00-4D8F-2E74-6188-52E15DEDA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D2212-C619-4E97-A34A-3AC19A9990C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321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22737-DFD1-C181-9196-84E38336E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D41870-BAD6-A7FF-1236-3B8C31412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03803D-D7AC-138D-B37A-E183E26F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793B4-EC5D-BB0A-EA44-07C202BEE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4F2BF2-CD57-E70D-9A9D-7925A106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47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7F57D-27F8-0387-2F4F-980CE8EF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48E61F-3DAF-5696-D2E9-A3DCBDA9F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8602E5-6778-405E-5FFD-D8DB8E110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6DDD6-46D9-9EE4-C10B-8E74F01C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BE818C-A14E-9203-15C0-274603D5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34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4808F-4BA8-710D-F237-E16724757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FE5916-16DF-44B5-ADFA-F344C0168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F53359-9A04-D0BC-6AE7-2662CB7E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D74159-33AB-4C84-F00C-07EC3136D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22E48-B637-34F7-4437-978A57A8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137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ED078-9B4A-618F-1FC9-843FD53F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74A58D-9012-6BB1-6D56-BFC699067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5BC9BD-53EE-8836-787E-FE64C0385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1E9F57-C637-67FD-0180-30D60522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14413F-3433-9C89-E7BD-E65E8BA9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85F6ED-1B2A-6230-1685-D02E4442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08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25BD3-C9C9-69E2-23B6-9F86E9D8E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E59EAC-EB54-98D4-7B00-5E6BA607E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2D6A6F-616D-8771-DFFC-F2EE06D7D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09454B-6867-0637-41DA-6FCBBB7FA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9D358E-12F3-43C7-32A9-750AEB4B2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86F04A-4204-11B1-3BB9-BB9F723F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71FBA7-8672-1A10-D860-5F582D25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5175D4-00C7-EFC3-3912-F90191AD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483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505C5-A433-3295-0C72-B89378FE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30CA649-1C8F-FAD1-BCCD-566D3D50C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09EF98-D8E3-38F6-6505-A8BD8FF3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725A3C-A039-FFDC-E1C0-5464BE1C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51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8DFD16-C5E0-BEF3-7DFD-1900DB4F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5C90C6-42F9-3A13-35A9-6F4DA3D62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E6FB23-3F6C-B669-9CB8-A1D481CA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81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53A75-8E29-73A6-76AD-A91AD49C1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B1364A-E48D-8A85-B4D7-3074A8F90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9F3611-41EE-F2A1-5999-D6A0B62F0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6EF9C2-EBE3-0663-0338-9AECAACD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32490B-CDEE-5C0B-DA57-B889F544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EAF5DF-C13B-0AC3-63D4-3B2ABF9C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01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761B0-92F7-B1F0-F847-8DFE67334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2DCD4F-D115-C4F1-1866-5E283E4F9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E3DAB8-2B62-73ED-4C24-B07640C8C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D186A2-CFE8-8F3D-FC63-0C3DA7C6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787DF5-72FD-9567-6994-6C809DA7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50A9EB-DAAE-909C-11FB-C42AEF40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968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B4ECC-85BC-8CCA-558B-ED6EA0CC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43CE9D-9A02-8542-86C9-85E510C20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608B63-560F-0FE6-97F6-A452EBF36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0F3BB-7013-4AE1-BC7C-EBC259B1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ACB71A-8865-4CDF-2FD5-92B238F3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2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A096CB-E1AC-7368-DCA6-AE0C1D7D3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23DD85-8833-49D2-B894-26525EA45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D32132-8428-77AC-3949-1080B176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563A4-D868-7263-CC2D-0C561022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0A0C0-EFE7-B49D-8FA6-16A38CE0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76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E7F223-C37F-B371-1719-5CFF06E93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72EA02-8BB5-6F92-DC93-3B638B8E1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827CB-C23D-B124-3240-693A04E11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5F97E-7269-424C-92B4-88BC25D7C6E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EF996-82AB-0BAA-9E10-AF0C2C0F4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077799-BF8C-DE12-4FA8-A47C2BCF3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325BB-067A-4371-A9CE-AAB915BC59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10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6005E-7996-9B9C-435B-6773C93A57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zh-CN" altLang="en-US" dirty="0"/>
              <a:t>分布式知识图谱数据管理</a:t>
            </a:r>
            <a:br>
              <a:rPr lang="en-US" altLang="zh-CN" dirty="0"/>
            </a:br>
            <a:r>
              <a:rPr lang="en-US" altLang="zh-CN" sz="5300" dirty="0"/>
              <a:t>LDBC-SNB</a:t>
            </a:r>
            <a:r>
              <a:rPr lang="zh-CN" altLang="en-US" sz="5300" dirty="0"/>
              <a:t>基准测试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15BFD6-5D50-1808-D2C3-F11C32C53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2025.01.07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8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8F2E6-ABB6-F8DA-BA61-23359AB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LDBC-SNB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F77D2C-47B9-1C19-4DCA-70DCAA2A02D5}"/>
              </a:ext>
            </a:extLst>
          </p:cNvPr>
          <p:cNvSpPr txBox="1"/>
          <p:nvPr/>
        </p:nvSpPr>
        <p:spPr>
          <a:xfrm>
            <a:off x="640720" y="1605116"/>
            <a:ext cx="57658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FF0000"/>
                </a:solidFill>
                <a:effectLst/>
                <a:latin typeface="Inter"/>
              </a:rPr>
              <a:t>LDBC-SNB</a:t>
            </a:r>
            <a:r>
              <a:rPr lang="zh-CN" altLang="en-US" b="0" i="0" dirty="0">
                <a:effectLst/>
                <a:latin typeface="Inter"/>
              </a:rPr>
              <a:t>（</a:t>
            </a:r>
            <a:r>
              <a:rPr lang="en-US" altLang="zh-CN" b="0" i="0" dirty="0">
                <a:effectLst/>
                <a:latin typeface="Inter"/>
              </a:rPr>
              <a:t>Linked Data Benchmark Council - Social Network Benchmark</a:t>
            </a:r>
            <a:r>
              <a:rPr lang="zh-CN" altLang="en-US" b="0" i="0" dirty="0">
                <a:effectLst/>
                <a:latin typeface="Inter"/>
              </a:rPr>
              <a:t>）是一种用于评估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Inter"/>
              </a:rPr>
              <a:t>属性图数据库系统性能的基准测试</a:t>
            </a:r>
            <a:r>
              <a:rPr lang="zh-CN" altLang="en-US" b="0" i="0" dirty="0">
                <a:effectLst/>
                <a:latin typeface="Inter"/>
              </a:rPr>
              <a:t>。</a:t>
            </a: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ter"/>
              </a:rPr>
              <a:t>主要聚焦于社交网络场景，模拟社交网络中的各种操作，如用户发布内容、用户之间的关系建立和查询等多种复杂操作。</a:t>
            </a: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Inter"/>
              </a:rPr>
              <a:t>LDBC - SNB </a:t>
            </a:r>
            <a:r>
              <a:rPr lang="zh-CN" altLang="en-US" b="0" i="0" dirty="0">
                <a:effectLst/>
                <a:latin typeface="Inter"/>
              </a:rPr>
              <a:t>提供了不同规模的数据集，支持模拟大规模的模拟真实复杂社交网络。</a:t>
            </a: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0000"/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Inter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4465DB-EB14-8A78-C985-56444F129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265" y="1287915"/>
            <a:ext cx="5376718" cy="413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78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C82C-3D6E-575E-5607-4A6D94B4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86E2A-14E9-73F4-61FC-E3121E524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测试内容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997527-C3A8-E8A5-56C3-D64238796EA1}"/>
              </a:ext>
            </a:extLst>
          </p:cNvPr>
          <p:cNvSpPr txBox="1"/>
          <p:nvPr/>
        </p:nvSpPr>
        <p:spPr>
          <a:xfrm>
            <a:off x="838200" y="1859339"/>
            <a:ext cx="55856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solidFill>
                <a:srgbClr val="FF0000"/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Inter"/>
              </a:rPr>
              <a:t>测试环境：</a:t>
            </a:r>
            <a:r>
              <a:rPr lang="en-US" altLang="zh-CN" dirty="0">
                <a:latin typeface="Inter"/>
              </a:rPr>
              <a:t>6</a:t>
            </a:r>
            <a:r>
              <a:rPr lang="zh-CN" altLang="en-US" dirty="0">
                <a:latin typeface="Inter"/>
              </a:rPr>
              <a:t>台服务器（</a:t>
            </a:r>
            <a:r>
              <a:rPr lang="en-US" altLang="zh-CN" dirty="0">
                <a:latin typeface="Inter"/>
              </a:rPr>
              <a:t>cpu4</a:t>
            </a:r>
            <a:r>
              <a:rPr lang="zh-CN" altLang="en-US" dirty="0">
                <a:latin typeface="Inter"/>
              </a:rPr>
              <a:t>核</a:t>
            </a:r>
            <a:r>
              <a:rPr lang="en-US" altLang="zh-CN" dirty="0">
                <a:latin typeface="Inter"/>
              </a:rPr>
              <a:t>/</a:t>
            </a:r>
            <a:r>
              <a:rPr lang="zh-CN" altLang="en-US" dirty="0">
                <a:latin typeface="Inter"/>
              </a:rPr>
              <a:t>每台，内存</a:t>
            </a:r>
            <a:r>
              <a:rPr lang="en-US" altLang="zh-CN" dirty="0">
                <a:latin typeface="Inter"/>
              </a:rPr>
              <a:t>32G/</a:t>
            </a:r>
            <a:r>
              <a:rPr lang="zh-CN" altLang="en-US" dirty="0">
                <a:latin typeface="Inter"/>
              </a:rPr>
              <a:t>每台，磁盘</a:t>
            </a:r>
            <a:r>
              <a:rPr lang="en-US" altLang="zh-CN" dirty="0">
                <a:latin typeface="Inter"/>
              </a:rPr>
              <a:t>2T/</a:t>
            </a:r>
            <a:r>
              <a:rPr lang="zh-CN" altLang="en-US" dirty="0">
                <a:latin typeface="Inter"/>
              </a:rPr>
              <a:t>每台）</a:t>
            </a:r>
            <a:r>
              <a:rPr lang="en-US" altLang="zh-CN" dirty="0">
                <a:latin typeface="Inter"/>
              </a:rPr>
              <a:t>+ </a:t>
            </a:r>
            <a:r>
              <a:rPr lang="zh-CN" altLang="en-US" dirty="0">
                <a:latin typeface="Inter"/>
              </a:rPr>
              <a:t>终端</a:t>
            </a:r>
            <a:r>
              <a:rPr lang="en-US" altLang="zh-CN" dirty="0">
                <a:latin typeface="Inter"/>
              </a:rPr>
              <a:t>pc</a:t>
            </a:r>
            <a:r>
              <a:rPr lang="zh-CN" altLang="en-US" dirty="0">
                <a:latin typeface="Inter"/>
              </a:rPr>
              <a:t>电脑</a:t>
            </a:r>
            <a:endParaRPr lang="en-US" altLang="zh-CN" dirty="0"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0000"/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ter"/>
              </a:rPr>
              <a:t>本次测试使用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Inter"/>
              </a:rPr>
              <a:t>LDBC SF1000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Inter"/>
              </a:rPr>
              <a:t>数据集（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Inter"/>
              </a:rPr>
              <a:t>2,786,781,095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Inter"/>
              </a:rPr>
              <a:t>点、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Inter"/>
              </a:rPr>
              <a:t>17,450,588,784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Inter"/>
              </a:rPr>
              <a:t>边），</a:t>
            </a:r>
            <a:r>
              <a:rPr lang="zh-CN" altLang="en-US" b="0" i="0" dirty="0">
                <a:effectLst/>
                <a:latin typeface="Inter"/>
              </a:rPr>
              <a:t>测试指标为</a:t>
            </a:r>
            <a:r>
              <a:rPr lang="en-US" altLang="zh-CN" dirty="0" err="1">
                <a:solidFill>
                  <a:srgbClr val="FF0000"/>
                </a:solidFill>
                <a:latin typeface="Inter"/>
              </a:rPr>
              <a:t>interative</a:t>
            </a:r>
            <a:r>
              <a:rPr lang="zh-CN" altLang="en-US" dirty="0">
                <a:solidFill>
                  <a:srgbClr val="FF0000"/>
                </a:solidFill>
                <a:latin typeface="Inter"/>
              </a:rPr>
              <a:t>测试查询集</a:t>
            </a:r>
            <a:r>
              <a:rPr lang="zh-CN" altLang="zh-CN" dirty="0">
                <a:solidFill>
                  <a:srgbClr val="FF0000"/>
                </a:solidFill>
                <a:latin typeface="Inter"/>
              </a:rPr>
              <a:t>平均查询响应时间小于</a:t>
            </a:r>
            <a:r>
              <a:rPr lang="en-US" altLang="zh-CN" dirty="0">
                <a:solidFill>
                  <a:srgbClr val="FF0000"/>
                </a:solidFill>
                <a:latin typeface="Inter"/>
              </a:rPr>
              <a:t>1</a:t>
            </a:r>
            <a:r>
              <a:rPr lang="zh-CN" altLang="zh-CN" dirty="0">
                <a:solidFill>
                  <a:srgbClr val="FF0000"/>
                </a:solidFill>
                <a:latin typeface="Inter"/>
              </a:rPr>
              <a:t>秒最大查询响应时间小于</a:t>
            </a:r>
            <a:r>
              <a:rPr lang="en-US" altLang="zh-CN" dirty="0">
                <a:solidFill>
                  <a:srgbClr val="FF0000"/>
                </a:solidFill>
                <a:latin typeface="Inter"/>
              </a:rPr>
              <a:t> 10 </a:t>
            </a:r>
            <a:r>
              <a:rPr lang="zh-CN" altLang="zh-CN" dirty="0">
                <a:solidFill>
                  <a:srgbClr val="FF0000"/>
                </a:solidFill>
                <a:latin typeface="Inter"/>
              </a:rPr>
              <a:t>秒</a:t>
            </a:r>
            <a:endParaRPr lang="en-US" altLang="zh-CN" dirty="0">
              <a:solidFill>
                <a:srgbClr val="FF0000"/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Inter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6F39BC-2C75-30F5-1C43-3CEEA88F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434" y="3424518"/>
            <a:ext cx="837142" cy="2503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0DB2B1B-C0B1-E2FE-FA68-09AB97496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64" y="2129633"/>
            <a:ext cx="1101035" cy="7104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9534D0-D3A5-FA8B-1603-4A96253B3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3220" y="2129633"/>
            <a:ext cx="1101035" cy="71047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8029ED7-0025-1294-AF94-410835918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942" y="2097010"/>
            <a:ext cx="1101035" cy="71047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3B390A0-5F4A-E764-C780-9DDB07586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64" y="4069648"/>
            <a:ext cx="1101035" cy="7104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9241962-EEE6-37F8-3409-C43FCE1C6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942" y="4062941"/>
            <a:ext cx="1101035" cy="71047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732EA89-DEF4-FA79-89A6-97FFE3A1E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9549" y="4069648"/>
            <a:ext cx="1101035" cy="710479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CA46C24-0C94-6E56-B0E4-1058394E290A}"/>
              </a:ext>
            </a:extLst>
          </p:cNvPr>
          <p:cNvCxnSpPr>
            <a:cxnSpLocks/>
            <a:stCxn id="8" idx="2"/>
            <a:endCxn id="6" idx="1"/>
          </p:cNvCxnSpPr>
          <p:nvPr/>
        </p:nvCxnSpPr>
        <p:spPr>
          <a:xfrm>
            <a:off x="7511182" y="2840112"/>
            <a:ext cx="1314252" cy="7095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668ACF7-483E-2528-9EDA-8A5ACF9DD056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9217460" y="2807489"/>
            <a:ext cx="26545" cy="61702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22BB6D2-6C0D-247A-20CD-D010FA713413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9492718" y="2840112"/>
            <a:ext cx="1431020" cy="67154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1032038-539C-461D-3398-3F6B8DA863F0}"/>
              </a:ext>
            </a:extLst>
          </p:cNvPr>
          <p:cNvCxnSpPr>
            <a:cxnSpLocks/>
          </p:cNvCxnSpPr>
          <p:nvPr/>
        </p:nvCxnSpPr>
        <p:spPr>
          <a:xfrm flipV="1">
            <a:off x="7528098" y="3668001"/>
            <a:ext cx="1409243" cy="5646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0EB11B-A263-EADF-79A3-130CD14FFAA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9217459" y="3674853"/>
            <a:ext cx="26546" cy="5537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F57C05C-84AB-5677-7E6F-9B55D650D4C4}"/>
              </a:ext>
            </a:extLst>
          </p:cNvPr>
          <p:cNvCxnSpPr>
            <a:cxnSpLocks/>
          </p:cNvCxnSpPr>
          <p:nvPr/>
        </p:nvCxnSpPr>
        <p:spPr>
          <a:xfrm flipH="1" flipV="1">
            <a:off x="9492718" y="3656728"/>
            <a:ext cx="1261546" cy="6277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B0D52EE6-0046-3A94-7466-8BA7BB92D2EA}"/>
              </a:ext>
            </a:extLst>
          </p:cNvPr>
          <p:cNvSpPr txBox="1"/>
          <p:nvPr/>
        </p:nvSpPr>
        <p:spPr>
          <a:xfrm>
            <a:off x="6923641" y="2857023"/>
            <a:ext cx="101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Inter"/>
              </a:rPr>
              <a:t>服务器</a:t>
            </a:r>
            <a:endParaRPr lang="zh-CN" altLang="en-US" sz="16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617281D-5E37-0386-0493-F43A5AF2CC33}"/>
              </a:ext>
            </a:extLst>
          </p:cNvPr>
          <p:cNvSpPr txBox="1"/>
          <p:nvPr/>
        </p:nvSpPr>
        <p:spPr>
          <a:xfrm>
            <a:off x="8535299" y="2857023"/>
            <a:ext cx="101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Inter"/>
              </a:rPr>
              <a:t>服务器</a:t>
            </a:r>
            <a:endParaRPr lang="zh-CN" altLang="en-US" sz="16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0366540-2338-440E-4780-A7CE9FD23432}"/>
              </a:ext>
            </a:extLst>
          </p:cNvPr>
          <p:cNvSpPr txBox="1"/>
          <p:nvPr/>
        </p:nvSpPr>
        <p:spPr>
          <a:xfrm>
            <a:off x="10706326" y="2780554"/>
            <a:ext cx="101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Inter"/>
              </a:rPr>
              <a:t>服务器</a:t>
            </a:r>
            <a:endParaRPr lang="zh-CN" altLang="en-US" sz="16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4E571D8-836C-6835-33EA-60692401F57D}"/>
              </a:ext>
            </a:extLst>
          </p:cNvPr>
          <p:cNvSpPr txBox="1"/>
          <p:nvPr/>
        </p:nvSpPr>
        <p:spPr>
          <a:xfrm>
            <a:off x="10581467" y="4772255"/>
            <a:ext cx="101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Inter"/>
              </a:rPr>
              <a:t>服务器</a:t>
            </a:r>
            <a:endParaRPr lang="zh-CN" altLang="en-US" sz="16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73B34AA-3BF6-977B-554B-55C3D6834038}"/>
              </a:ext>
            </a:extLst>
          </p:cNvPr>
          <p:cNvSpPr txBox="1"/>
          <p:nvPr/>
        </p:nvSpPr>
        <p:spPr>
          <a:xfrm>
            <a:off x="8792384" y="4801351"/>
            <a:ext cx="101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Inter"/>
              </a:rPr>
              <a:t>服务器</a:t>
            </a:r>
            <a:endParaRPr lang="zh-CN" altLang="en-US" sz="16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D61F5AB-8A97-4EC2-6C0D-4A8D5FD54F80}"/>
              </a:ext>
            </a:extLst>
          </p:cNvPr>
          <p:cNvSpPr txBox="1"/>
          <p:nvPr/>
        </p:nvSpPr>
        <p:spPr>
          <a:xfrm>
            <a:off x="7046433" y="4788069"/>
            <a:ext cx="101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Inter"/>
              </a:rPr>
              <a:t>服务器</a:t>
            </a:r>
            <a:endParaRPr lang="zh-CN" altLang="en-US" sz="16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ADAB02C-DF2C-973C-0798-EFA335ACF621}"/>
              </a:ext>
            </a:extLst>
          </p:cNvPr>
          <p:cNvSpPr txBox="1"/>
          <p:nvPr/>
        </p:nvSpPr>
        <p:spPr>
          <a:xfrm>
            <a:off x="9566201" y="3409080"/>
            <a:ext cx="101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Inter"/>
              </a:rPr>
              <a:t>交换机</a:t>
            </a:r>
            <a:endParaRPr lang="zh-CN" altLang="en-US" sz="1600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7A64F01C-3226-1E96-5F96-EAC85C5B3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1738" y="5496582"/>
            <a:ext cx="578827" cy="452824"/>
          </a:xfrm>
          <a:prstGeom prst="rect">
            <a:avLst/>
          </a:prstGeom>
        </p:spPr>
      </p:pic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6A22D3E-8930-ED5F-3797-F3C8CB2368B9}"/>
              </a:ext>
            </a:extLst>
          </p:cNvPr>
          <p:cNvCxnSpPr>
            <a:cxnSpLocks/>
            <a:stCxn id="45" idx="0"/>
            <a:endCxn id="12" idx="2"/>
          </p:cNvCxnSpPr>
          <p:nvPr/>
        </p:nvCxnSpPr>
        <p:spPr>
          <a:xfrm flipH="1" flipV="1">
            <a:off x="9217460" y="4773420"/>
            <a:ext cx="43692" cy="72316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4C1F2EB8-3BF7-2F68-A2D5-DBB58F9B1EC9}"/>
              </a:ext>
            </a:extLst>
          </p:cNvPr>
          <p:cNvSpPr txBox="1"/>
          <p:nvPr/>
        </p:nvSpPr>
        <p:spPr>
          <a:xfrm>
            <a:off x="8666942" y="5949406"/>
            <a:ext cx="1415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Inter"/>
              </a:rPr>
              <a:t>终端</a:t>
            </a:r>
            <a:r>
              <a:rPr lang="en-US" altLang="zh-CN" dirty="0">
                <a:latin typeface="Inter"/>
              </a:rPr>
              <a:t>pc</a:t>
            </a:r>
            <a:r>
              <a:rPr lang="zh-CN" altLang="en-US" dirty="0">
                <a:latin typeface="Inter"/>
              </a:rPr>
              <a:t>电脑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195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4BCA-C7B4-D6F4-3EE9-AF0F81B5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24A1E-4FAD-3C87-3C77-925CCB4F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测试脚本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76F9DE-CAA0-1D65-2922-724F0CC3F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70" y="1690688"/>
            <a:ext cx="531645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76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4846A-1E9E-4433-6023-A637DD46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EBD35-B25E-B1AB-164E-0A65F053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基准查询</a:t>
            </a:r>
            <a:r>
              <a:rPr lang="en-US" altLang="zh-CN" dirty="0"/>
              <a:t>interactive workload——is1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A31D92-92FF-1123-309B-F16C01708E8B}"/>
              </a:ext>
            </a:extLst>
          </p:cNvPr>
          <p:cNvSpPr txBox="1"/>
          <p:nvPr/>
        </p:nvSpPr>
        <p:spPr>
          <a:xfrm>
            <a:off x="838200" y="2623033"/>
            <a:ext cx="5455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Inter"/>
              </a:rPr>
              <a:t>is1:</a:t>
            </a:r>
            <a:r>
              <a:rPr lang="zh-CN" altLang="en-US" b="1" i="0" dirty="0">
                <a:effectLst/>
                <a:latin typeface="Inter"/>
              </a:rPr>
              <a:t>个人档案</a:t>
            </a:r>
            <a:endParaRPr lang="en-US" altLang="zh-CN" b="1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ter"/>
              </a:rPr>
              <a:t>给定 </a:t>
            </a:r>
            <a:r>
              <a:rPr lang="en-US" altLang="zh-CN" b="0" i="0" dirty="0">
                <a:effectLst/>
                <a:latin typeface="Inter"/>
              </a:rPr>
              <a:t>ID </a:t>
            </a:r>
            <a:r>
              <a:rPr lang="zh-CN" altLang="en-US" b="0" i="0" dirty="0">
                <a:effectLst/>
                <a:latin typeface="Inter"/>
              </a:rPr>
              <a:t>为 </a:t>
            </a:r>
            <a:r>
              <a:rPr lang="en-US" altLang="zh-CN" b="0" i="0" dirty="0">
                <a:effectLst/>
                <a:latin typeface="Inter"/>
              </a:rPr>
              <a:t>$</a:t>
            </a:r>
            <a:r>
              <a:rPr lang="en-US" altLang="zh-CN" b="0" i="0" dirty="0" err="1">
                <a:effectLst/>
                <a:latin typeface="Inter"/>
              </a:rPr>
              <a:t>personId</a:t>
            </a:r>
            <a:r>
              <a:rPr lang="en-US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的人员，检索其名字、姓氏、生日、</a:t>
            </a:r>
            <a:r>
              <a:rPr lang="en-US" altLang="zh-CN" b="0" i="0" dirty="0">
                <a:effectLst/>
                <a:latin typeface="Inter"/>
              </a:rPr>
              <a:t>IP </a:t>
            </a:r>
            <a:r>
              <a:rPr lang="zh-CN" altLang="en-US" b="0" i="0" dirty="0">
                <a:effectLst/>
                <a:latin typeface="Inter"/>
              </a:rPr>
              <a:t>地址、浏览器和居住城市。</a:t>
            </a:r>
            <a:endParaRPr lang="en-US" altLang="zh-CN" b="0" i="0" dirty="0">
              <a:effectLst/>
              <a:latin typeface="Inter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E1A746-C928-A200-6535-A7D2FA0956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57"/>
          <a:stretch/>
        </p:blipFill>
        <p:spPr>
          <a:xfrm>
            <a:off x="6435215" y="2324926"/>
            <a:ext cx="5153025" cy="179654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8B6BE7-CA09-40D3-5390-64883C262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29" y="4524410"/>
            <a:ext cx="10400071" cy="133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5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3DAC5-EC88-BCAA-02B9-4E2F5947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36963-FEE7-A5FB-4771-22A5C008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基准查询</a:t>
            </a:r>
            <a:r>
              <a:rPr lang="en-US" altLang="zh-CN" dirty="0"/>
              <a:t>interactive workload—— is2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B6BEB2-4709-9501-2466-2CB9F14F5E52}"/>
              </a:ext>
            </a:extLst>
          </p:cNvPr>
          <p:cNvSpPr txBox="1"/>
          <p:nvPr/>
        </p:nvSpPr>
        <p:spPr>
          <a:xfrm>
            <a:off x="838200" y="2433252"/>
            <a:ext cx="50277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Inter"/>
              </a:rPr>
              <a:t>is2:</a:t>
            </a:r>
            <a:r>
              <a:rPr lang="zh-CN" altLang="en-US" b="1" i="0" dirty="0">
                <a:effectLst/>
                <a:latin typeface="Inter"/>
              </a:rPr>
              <a:t>个人近期信息</a:t>
            </a:r>
            <a:endParaRPr lang="en-US" altLang="zh-CN" b="1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ter"/>
              </a:rPr>
              <a:t>给定 </a:t>
            </a:r>
            <a:r>
              <a:rPr lang="en-US" altLang="zh-CN" b="0" i="0" dirty="0">
                <a:effectLst/>
                <a:latin typeface="Inter"/>
              </a:rPr>
              <a:t>ID </a:t>
            </a:r>
            <a:r>
              <a:rPr lang="zh-CN" altLang="en-US" b="0" i="0" dirty="0">
                <a:effectLst/>
                <a:latin typeface="Inter"/>
              </a:rPr>
              <a:t>为 </a:t>
            </a:r>
            <a:r>
              <a:rPr lang="en-US" altLang="zh-CN" b="0" i="0" dirty="0">
                <a:effectLst/>
                <a:latin typeface="Inter"/>
              </a:rPr>
              <a:t>$</a:t>
            </a:r>
            <a:r>
              <a:rPr lang="en-US" altLang="zh-CN" b="0" i="0" dirty="0" err="1">
                <a:effectLst/>
                <a:latin typeface="Inter"/>
              </a:rPr>
              <a:t>personId</a:t>
            </a:r>
            <a:r>
              <a:rPr lang="en-US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的人员，检索该用户创建的最后 </a:t>
            </a:r>
            <a:r>
              <a:rPr lang="en-US" altLang="zh-CN" b="0" i="0" dirty="0">
                <a:effectLst/>
                <a:latin typeface="Inter"/>
              </a:rPr>
              <a:t>10 </a:t>
            </a:r>
            <a:r>
              <a:rPr lang="zh-CN" altLang="en-US" b="0" i="0" dirty="0">
                <a:effectLst/>
                <a:latin typeface="Inter"/>
              </a:rPr>
              <a:t>条信息。对于每个信息，返回该信息、其对话中的原始信息（帖子）以及该帖子的作者 。</a:t>
            </a:r>
            <a:r>
              <a:rPr lang="zh-CN" altLang="en-US" dirty="0">
                <a:latin typeface="Inter"/>
              </a:rPr>
              <a:t>（如果信息是帖子会返回两次）</a:t>
            </a:r>
            <a:endParaRPr lang="en-US" altLang="zh-CN" b="0" i="0" dirty="0">
              <a:effectLst/>
              <a:latin typeface="Inter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0C766B-D327-A9CA-45BA-6EC215C7F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64032"/>
            <a:ext cx="5790119" cy="253174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E4DAF6C-78FD-F387-4741-E0DD5E97A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226" y="4790517"/>
            <a:ext cx="7569483" cy="189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6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CF669-CA27-D015-0A09-6910EB383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5C5B7-4AFB-FABA-0C17-9BFCDCE9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基准查询</a:t>
            </a:r>
            <a:r>
              <a:rPr lang="en-US" altLang="zh-CN" dirty="0"/>
              <a:t>interactive workload—— is3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A9A2C8-314B-727F-E724-3A742E09554B}"/>
              </a:ext>
            </a:extLst>
          </p:cNvPr>
          <p:cNvSpPr txBox="1"/>
          <p:nvPr/>
        </p:nvSpPr>
        <p:spPr>
          <a:xfrm>
            <a:off x="838200" y="2433252"/>
            <a:ext cx="5027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Inter"/>
              </a:rPr>
              <a:t>is3:</a:t>
            </a:r>
            <a:r>
              <a:rPr lang="zh-CN" altLang="en-US" b="1" i="0" dirty="0">
                <a:effectLst/>
                <a:latin typeface="Inter"/>
              </a:rPr>
              <a:t>个人朋友</a:t>
            </a:r>
            <a:endParaRPr lang="en-US" altLang="zh-CN" b="1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ter"/>
              </a:rPr>
              <a:t>给定一个 </a:t>
            </a:r>
            <a:r>
              <a:rPr lang="en-US" altLang="zh-CN" b="0" i="0" dirty="0">
                <a:effectLst/>
                <a:latin typeface="Inter"/>
              </a:rPr>
              <a:t>ID </a:t>
            </a:r>
            <a:r>
              <a:rPr lang="zh-CN" altLang="en-US" b="0" i="0" dirty="0">
                <a:effectLst/>
                <a:latin typeface="Inter"/>
              </a:rPr>
              <a:t>为 </a:t>
            </a:r>
            <a:r>
              <a:rPr lang="en-US" altLang="zh-CN" b="0" i="0" dirty="0">
                <a:effectLst/>
                <a:latin typeface="Inter"/>
              </a:rPr>
              <a:t>$</a:t>
            </a:r>
            <a:r>
              <a:rPr lang="en-US" altLang="zh-CN" b="0" i="0" dirty="0" err="1">
                <a:effectLst/>
                <a:latin typeface="Inter"/>
              </a:rPr>
              <a:t>personId</a:t>
            </a:r>
            <a:r>
              <a:rPr lang="en-US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的开始 </a:t>
            </a:r>
            <a:r>
              <a:rPr lang="en-US" altLang="zh-CN" b="0" i="0" dirty="0">
                <a:effectLst/>
                <a:latin typeface="Inter"/>
              </a:rPr>
              <a:t>Person</a:t>
            </a:r>
            <a:r>
              <a:rPr lang="zh-CN" altLang="en-US" b="0" i="0" dirty="0">
                <a:effectLst/>
                <a:latin typeface="Inter"/>
              </a:rPr>
              <a:t>，检索他们的所有朋友，以及他们成为朋友的日期。</a:t>
            </a:r>
            <a:endParaRPr lang="en-US" altLang="zh-CN" b="0" i="0" dirty="0">
              <a:effectLst/>
              <a:latin typeface="Inter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2A3845-F0D5-558D-F785-3B85E33EE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33252"/>
            <a:ext cx="5947823" cy="1284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39C0A9A-C3C0-1778-9F92-2D762CD7A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23" y="4098602"/>
            <a:ext cx="10656667" cy="197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8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6F41C-374B-5EBF-D5D6-3860DE9A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07E16-FBB5-1CE8-9DD5-B38A037F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基准查询</a:t>
            </a:r>
            <a:r>
              <a:rPr lang="en-US" altLang="zh-CN" dirty="0"/>
              <a:t>interactive workload—— is4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21E893-DCC3-AFBA-E119-E355C91818DB}"/>
              </a:ext>
            </a:extLst>
          </p:cNvPr>
          <p:cNvSpPr txBox="1"/>
          <p:nvPr/>
        </p:nvSpPr>
        <p:spPr>
          <a:xfrm>
            <a:off x="838200" y="2433252"/>
            <a:ext cx="5027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Inter"/>
              </a:rPr>
              <a:t>is4:</a:t>
            </a:r>
            <a:r>
              <a:rPr lang="zh-CN" altLang="en-US" b="1" i="0" dirty="0">
                <a:effectLst/>
                <a:latin typeface="Inter"/>
              </a:rPr>
              <a:t>消息</a:t>
            </a:r>
            <a:r>
              <a:rPr lang="zh-CN" altLang="en-US" b="1" dirty="0">
                <a:latin typeface="Inter"/>
              </a:rPr>
              <a:t>内容</a:t>
            </a:r>
            <a:endParaRPr lang="en-US" altLang="zh-CN" b="1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ter"/>
              </a:rPr>
              <a:t>给定 </a:t>
            </a:r>
            <a:r>
              <a:rPr lang="en-US" altLang="zh-CN" b="0" i="0" dirty="0">
                <a:effectLst/>
                <a:latin typeface="Inter"/>
              </a:rPr>
              <a:t>ID </a:t>
            </a:r>
            <a:r>
              <a:rPr lang="zh-CN" altLang="en-US" b="0" i="0" dirty="0">
                <a:effectLst/>
                <a:latin typeface="Inter"/>
              </a:rPr>
              <a:t>为 </a:t>
            </a:r>
            <a:r>
              <a:rPr lang="en-US" altLang="zh-CN" b="0" i="0" dirty="0">
                <a:effectLst/>
                <a:latin typeface="Inter"/>
              </a:rPr>
              <a:t>$</a:t>
            </a:r>
            <a:r>
              <a:rPr lang="en-US" altLang="zh-CN" b="0" i="0" dirty="0" err="1">
                <a:effectLst/>
                <a:latin typeface="Inter"/>
              </a:rPr>
              <a:t>messageId</a:t>
            </a:r>
            <a:r>
              <a:rPr lang="en-US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的消息，检索其内容和创建日期。</a:t>
            </a:r>
            <a:endParaRPr lang="en-US" altLang="zh-CN" b="0" i="0" dirty="0">
              <a:effectLst/>
              <a:latin typeface="Inter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746D8A-F870-8BE1-71B9-3F6AA4413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539" y="2051954"/>
            <a:ext cx="2619375" cy="16859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D70C9E4-1C3A-A08B-E450-F3E1402EA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76145"/>
            <a:ext cx="10225090" cy="192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42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3F65B-0D2A-D135-4ABB-DEBFEF3DD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A88AC-BA86-70C5-BA90-444861B3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基准查询</a:t>
            </a:r>
            <a:r>
              <a:rPr lang="en-US" altLang="zh-CN" dirty="0"/>
              <a:t>interactive workload—— is5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3A5F34-6EF6-1159-1688-FE55FD3037E8}"/>
              </a:ext>
            </a:extLst>
          </p:cNvPr>
          <p:cNvSpPr txBox="1"/>
          <p:nvPr/>
        </p:nvSpPr>
        <p:spPr>
          <a:xfrm>
            <a:off x="838200" y="2433252"/>
            <a:ext cx="5027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0" dirty="0">
                <a:effectLst/>
                <a:latin typeface="Inter"/>
              </a:rPr>
              <a:t>is5:</a:t>
            </a:r>
            <a:r>
              <a:rPr lang="zh-CN" altLang="en-US" b="1" i="0" dirty="0">
                <a:effectLst/>
                <a:latin typeface="Inter"/>
              </a:rPr>
              <a:t>消息创建者</a:t>
            </a:r>
            <a:endParaRPr lang="en-US" altLang="zh-CN" b="1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0" i="0" dirty="0">
              <a:effectLst/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ter"/>
              </a:rPr>
              <a:t>给定 </a:t>
            </a:r>
            <a:r>
              <a:rPr lang="en-US" altLang="zh-CN" b="0" i="0" dirty="0">
                <a:effectLst/>
                <a:latin typeface="Inter"/>
              </a:rPr>
              <a:t>ID </a:t>
            </a:r>
            <a:r>
              <a:rPr lang="zh-CN" altLang="en-US" b="0" i="0" dirty="0">
                <a:effectLst/>
                <a:latin typeface="Inter"/>
              </a:rPr>
              <a:t>为 </a:t>
            </a:r>
            <a:r>
              <a:rPr lang="en-US" altLang="zh-CN" b="0" i="0" dirty="0">
                <a:effectLst/>
                <a:latin typeface="Inter"/>
              </a:rPr>
              <a:t>$</a:t>
            </a:r>
            <a:r>
              <a:rPr lang="en-US" altLang="zh-CN" b="0" i="0" dirty="0" err="1">
                <a:effectLst/>
                <a:latin typeface="Inter"/>
              </a:rPr>
              <a:t>messageId</a:t>
            </a:r>
            <a:r>
              <a:rPr lang="en-US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的信息，检索其作者。</a:t>
            </a:r>
            <a:endParaRPr lang="en-US" altLang="zh-CN" b="0" i="0" dirty="0">
              <a:effectLst/>
              <a:latin typeface="Inter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9B0023-17FD-E261-EFF5-DB69C7476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964" y="2433252"/>
            <a:ext cx="5423949" cy="11857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606AA3-02D1-E629-41E0-7F22AE925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18" y="3823937"/>
            <a:ext cx="10592887" cy="246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7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343</Words>
  <Application>Microsoft Office PowerPoint</Application>
  <PresentationFormat>宽屏</PresentationFormat>
  <Paragraphs>45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Inter</vt:lpstr>
      <vt:lpstr>等线</vt:lpstr>
      <vt:lpstr>等线 Light</vt:lpstr>
      <vt:lpstr>Arial</vt:lpstr>
      <vt:lpstr>Office 主题​​</vt:lpstr>
      <vt:lpstr> 分布式知识图谱数据管理 LDBC-SNB基准测试</vt:lpstr>
      <vt:lpstr>LDBC-SNB</vt:lpstr>
      <vt:lpstr>测试内容</vt:lpstr>
      <vt:lpstr>测试脚本</vt:lpstr>
      <vt:lpstr>基准查询interactive workload——is1</vt:lpstr>
      <vt:lpstr>基准查询interactive workload—— is2</vt:lpstr>
      <vt:lpstr>基准查询interactive workload—— is3</vt:lpstr>
      <vt:lpstr>基准查询interactive workload—— is4</vt:lpstr>
      <vt:lpstr>基准查询interactive workload—— is5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喆媛 胡</dc:creator>
  <cp:lastModifiedBy>喆媛 胡</cp:lastModifiedBy>
  <cp:revision>11</cp:revision>
  <dcterms:created xsi:type="dcterms:W3CDTF">2025-01-06T14:44:39Z</dcterms:created>
  <dcterms:modified xsi:type="dcterms:W3CDTF">2025-01-07T06:33:17Z</dcterms:modified>
</cp:coreProperties>
</file>